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461770" y="1207770"/>
            <a:ext cx="9472295" cy="791845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44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大规模文本分类中的 Pegasos SVM</a:t>
            </a:r>
            <a:endParaRPr lang="zh-CN" sz="4400"/>
          </a:p>
        </p:txBody>
      </p:sp>
      <p:sp>
        <p:nvSpPr>
          <p:cNvPr id="5" name="TextBox 5"/>
          <p:cNvSpPr txBox="1"/>
          <p:nvPr/>
        </p:nvSpPr>
        <p:spPr>
          <a:xfrm>
            <a:off x="3727450" y="2378710"/>
            <a:ext cx="8263890" cy="573405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4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——从二分类 SVM 到多分类扩展，以及真实数据实验分析</a:t>
            </a:r>
          </a:p>
          <a:p>
            <a:pPr algn="l"/>
            <a:endParaRPr lang="zh-CN" sz="2400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87930" y="3658870"/>
            <a:ext cx="6155690" cy="20281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2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实际任务：新闻主题识别、评论情感分类</a:t>
            </a:r>
          </a:p>
          <a:p>
            <a:pPr algn="l"/>
            <a:endParaRPr lang="zh-CN" sz="2200"/>
          </a:p>
          <a:p>
            <a:pPr algn="l"/>
            <a:r>
              <a:rPr lang="zh-CN" sz="22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核心方法：线性 SVM + Pegasos 随机优化</a:t>
            </a:r>
          </a:p>
          <a:p>
            <a:pPr algn="l"/>
            <a:endParaRPr lang="zh-CN" sz="2200"/>
          </a:p>
          <a:p>
            <a:pPr algn="l"/>
            <a:r>
              <a:rPr lang="zh-CN" sz="22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实验数据：RCV1、Amazon Review Polarity</a:t>
            </a:r>
            <a:endParaRPr lang="zh-CN" sz="2200"/>
          </a:p>
        </p:txBody>
      </p:sp>
      <p:sp>
        <p:nvSpPr>
          <p:cNvPr id="7" name="TextBox 7"/>
          <p:cNvSpPr txBox="1"/>
          <p:nvPr/>
        </p:nvSpPr>
        <p:spPr>
          <a:xfrm>
            <a:off x="634509" y="5928487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zh-CN" altLang="en-US" sz="1600" dirty="0"/>
              <a:t>第</a:t>
            </a:r>
            <a:r>
              <a:rPr lang="en-US" altLang="zh-CN" sz="1600" dirty="0"/>
              <a:t>13</a:t>
            </a:r>
            <a:r>
              <a:rPr lang="zh-CN" altLang="en-US" sz="1600" dirty="0"/>
              <a:t>小组：张俊贤 邓昊阳 李林轩 王瑞祥 雷澳坤 李昊 张康硕 </a:t>
            </a:r>
            <a:endParaRPr lang="zh-CN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351790" y="636905"/>
            <a:ext cx="383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第</a:t>
            </a:r>
            <a:r>
              <a:rPr lang="en-US" altLang="zh-CN" sz="2000"/>
              <a:t>13</a:t>
            </a:r>
            <a:r>
              <a:rPr lang="zh-CN" altLang="en-US" sz="2000"/>
              <a:t>组</a:t>
            </a:r>
            <a:r>
              <a:rPr lang="zh-CN" altLang="en-US"/>
              <a:t>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1. 实际问题引入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为什么需要大规模线性 SVM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626110" y="1485900"/>
            <a:ext cx="4480560" cy="444881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实际问题：</a:t>
            </a:r>
          </a:p>
          <a:p>
            <a:pPr algn="l"/>
            <a:endParaRPr lang="zh-CN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文本分类常见于新闻分发、搜索过滤、舆情分析和商品评论情感识别</a:t>
            </a:r>
          </a:p>
          <a:p>
            <a:pPr algn="l"/>
            <a:endParaRPr lang="zh-CN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文本向量化后维度很高，但每条文本只包含少量非零词特征</a:t>
            </a:r>
          </a:p>
          <a:p>
            <a:pPr algn="l"/>
            <a:endParaRPr lang="zh-CN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传统核 SVM 在样本多时核矩阵开销大，难以直接扩展到百万级</a:t>
            </a:r>
          </a:p>
          <a:p>
            <a:pPr algn="l"/>
            <a:endParaRPr lang="zh-CN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Pegasos 直接优化线性 SVM 的 primal 目标，适合高维稀疏大规模数据</a:t>
            </a:r>
            <a:endParaRPr lang="zh-CN"/>
          </a:p>
        </p:txBody>
      </p:sp>
      <p:sp>
        <p:nvSpPr>
          <p:cNvPr id="6" name="TextBox 6"/>
          <p:cNvSpPr txBox="1"/>
          <p:nvPr/>
        </p:nvSpPr>
        <p:spPr>
          <a:xfrm>
            <a:off x="5229860" y="5484495"/>
            <a:ext cx="2148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300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50k / 10k</a:t>
            </a:r>
            <a:endParaRPr lang="zh-CN" sz="2300"/>
          </a:p>
          <a:p>
            <a:pPr algn="l"/>
            <a:r>
              <a:rPr lang="zh-CN" sz="105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RCV1 实验抽样</a:t>
            </a:r>
            <a:endParaRPr lang="zh-CN" sz="1050"/>
          </a:p>
          <a:p>
            <a:pPr algn="l"/>
            <a:r>
              <a:rPr lang="zh-CN" sz="8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训练 / 测试</a:t>
            </a:r>
            <a:endParaRPr lang="zh-CN" sz="850"/>
          </a:p>
        </p:txBody>
      </p:sp>
      <p:sp>
        <p:nvSpPr>
          <p:cNvPr id="7" name="TextBox 7"/>
          <p:cNvSpPr txBox="1"/>
          <p:nvPr/>
        </p:nvSpPr>
        <p:spPr>
          <a:xfrm>
            <a:off x="7501255" y="5484495"/>
            <a:ext cx="2148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300" b="1">
                <a:solidFill>
                  <a:srgbClr val="457B9D"/>
                </a:solidFill>
                <a:latin typeface="等线" panose="02010600030101010101" charset="-122"/>
                <a:ea typeface="等线" panose="02010600030101010101" charset="-122"/>
              </a:rPr>
              <a:t>47,236</a:t>
            </a:r>
            <a:endParaRPr lang="zh-CN" sz="2300"/>
          </a:p>
          <a:p>
            <a:pPr algn="l"/>
            <a:r>
              <a:rPr lang="zh-CN" sz="105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特征维度</a:t>
            </a:r>
            <a:endParaRPr lang="zh-CN" sz="1050"/>
          </a:p>
          <a:p>
            <a:pPr algn="l"/>
            <a:r>
              <a:rPr lang="zh-CN" sz="8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稀疏文本特征</a:t>
            </a:r>
            <a:endParaRPr lang="zh-CN" sz="850"/>
          </a:p>
        </p:txBody>
      </p:sp>
      <p:sp>
        <p:nvSpPr>
          <p:cNvPr id="8" name="TextBox 8"/>
          <p:cNvSpPr txBox="1"/>
          <p:nvPr/>
        </p:nvSpPr>
        <p:spPr>
          <a:xfrm>
            <a:off x="9798050" y="5484495"/>
            <a:ext cx="21488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300" b="1">
                <a:solidFill>
                  <a:srgbClr val="E76F51"/>
                </a:solidFill>
                <a:latin typeface="等线" panose="02010600030101010101" charset="-122"/>
                <a:ea typeface="等线" panose="02010600030101010101" charset="-122"/>
              </a:rPr>
              <a:t>3.6M / 400k</a:t>
            </a:r>
            <a:endParaRPr lang="zh-CN" sz="2300"/>
          </a:p>
          <a:p>
            <a:pPr algn="l"/>
            <a:r>
              <a:rPr lang="zh-CN" sz="105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Amazon 全量</a:t>
            </a:r>
            <a:endParaRPr lang="zh-CN" sz="1050"/>
          </a:p>
          <a:p>
            <a:pPr algn="l"/>
            <a:r>
              <a:rPr lang="zh-CN" sz="8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训练 / 测试</a:t>
            </a:r>
            <a:endParaRPr lang="zh-CN" sz="850"/>
          </a:p>
        </p:txBody>
      </p:sp>
      <p:sp>
        <p:nvSpPr>
          <p:cNvPr id="9" name="TextBox 9"/>
          <p:cNvSpPr txBox="1"/>
          <p:nvPr/>
        </p:nvSpPr>
        <p:spPr>
          <a:xfrm>
            <a:off x="5712460" y="1305560"/>
            <a:ext cx="6125845" cy="349440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本项目回答的问题：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如何从 SVM 的最大间隔思想落到可运行代码？</a:t>
            </a:r>
            <a:r>
              <a:rPr lang="en-US" alt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如何用 Pegasos 避免大规模文本上的高训练成本？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如何把二分类 SVM 扩展到多分类？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非线性核 SVM 在什么场景下更合适？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2. 整体流程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数据到图像结果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1170940" y="1050925"/>
            <a:ext cx="1871345" cy="774065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真实数据</a:t>
            </a:r>
          </a:p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RCV1 / Amazon</a:t>
            </a:r>
          </a:p>
        </p:txBody>
      </p: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3545205" y="1051560"/>
            <a:ext cx="2148840" cy="77343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文本向量化</a:t>
            </a:r>
            <a:endParaRPr lang="zh-CN" sz="1600"/>
          </a:p>
          <a:p>
            <a:pPr algn="l"/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Hashing / sparse</a:t>
            </a:r>
            <a:endParaRPr lang="zh-CN" sz="1600"/>
          </a:p>
        </p:txBody>
      </p: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6196965" y="1051560"/>
            <a:ext cx="1877695" cy="77343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Pegasos SVM</a:t>
            </a:r>
          </a:p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mini-batch SGD</a:t>
            </a:r>
          </a:p>
        </p:txBody>
      </p:sp>
      <p:sp>
        <p:nvSpPr>
          <p:cNvPr id="8" name="TextBox 8"/>
          <p:cNvSpPr txBox="1"/>
          <p:nvPr>
            <p:custDataLst>
              <p:tags r:id="rId3"/>
            </p:custDataLst>
          </p:nvPr>
        </p:nvSpPr>
        <p:spPr>
          <a:xfrm>
            <a:off x="8848725" y="1051560"/>
            <a:ext cx="1437640" cy="77343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评估输出</a:t>
            </a:r>
          </a:p>
          <a:p>
            <a:pPr algn="l">
              <a:buClrTx/>
              <a:buSzTx/>
              <a:buNone/>
            </a:pPr>
            <a:r>
              <a:rPr lang="zh-CN" sz="1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CSV + 图像</a:t>
            </a:r>
          </a:p>
        </p:txBody>
      </p:sp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3042285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2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→</a:t>
            </a:r>
            <a:endParaRPr lang="zh-CN" sz="2200"/>
          </a:p>
        </p:txBody>
      </p:sp>
      <p:sp>
        <p:nvSpPr>
          <p:cNvPr id="10" name="TextBox 10"/>
          <p:cNvSpPr txBox="1"/>
          <p:nvPr>
            <p:custDataLst>
              <p:tags r:id="rId5"/>
            </p:custDataLst>
          </p:nvPr>
        </p:nvSpPr>
        <p:spPr>
          <a:xfrm>
            <a:off x="5694045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2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→</a:t>
            </a:r>
            <a:endParaRPr lang="zh-CN" sz="2200"/>
          </a:p>
        </p:txBody>
      </p:sp>
      <p:sp>
        <p:nvSpPr>
          <p:cNvPr id="11" name="TextBox 11"/>
          <p:cNvSpPr txBox="1"/>
          <p:nvPr>
            <p:custDataLst>
              <p:tags r:id="rId6"/>
            </p:custDataLst>
          </p:nvPr>
        </p:nvSpPr>
        <p:spPr>
          <a:xfrm>
            <a:off x="8277860" y="1298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2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→</a:t>
            </a:r>
            <a:endParaRPr lang="zh-CN" sz="2200"/>
          </a:p>
        </p:txBody>
      </p:sp>
      <p:sp>
        <p:nvSpPr>
          <p:cNvPr id="12" name="TextBox 12"/>
          <p:cNvSpPr txBox="1"/>
          <p:nvPr/>
        </p:nvSpPr>
        <p:spPr>
          <a:xfrm>
            <a:off x="1358900" y="2139950"/>
            <a:ext cx="9111615" cy="16167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代码对应关系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src/pegasos.py：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                      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BinaryPegasosSVM 与 OneVsRestPegasosSVM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scripts/run_real_datasets.py：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  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下载、抽样、训练、保存图表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output/figures：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                       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汇报图像素材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output/results：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                       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实验指标 CSV</a:t>
            </a:r>
            <a:endParaRPr lang="zh-CN"/>
          </a:p>
        </p:txBody>
      </p:sp>
      <p:pic>
        <p:nvPicPr>
          <p:cNvPr id="21" name="real_dataset_training_curv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7160" y="4071620"/>
            <a:ext cx="8121650" cy="2586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3. SVM 二分类数学原理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最大间隔与 hinge loss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767080" y="1348105"/>
            <a:ext cx="3640455" cy="863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线性分类器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f(x) = wᵀx + b,    ŷ = sign(f(x))</a:t>
            </a:r>
            <a:endParaRPr lang="zh-CN"/>
          </a:p>
          <a:p>
            <a:pPr algn="l"/>
            <a:endParaRPr lang="zh-CN" sz="1250"/>
          </a:p>
          <a:p>
            <a:pPr algn="l"/>
            <a:endParaRPr lang="zh-CN" sz="1250"/>
          </a:p>
        </p:txBody>
      </p:sp>
      <p:pic>
        <p:nvPicPr>
          <p:cNvPr id="21" name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1760"/>
            <a:ext cx="5715000" cy="483576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59450" y="6195695"/>
            <a:ext cx="643255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40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图中实线是决策边界，虚线是 margin；违反 margin 的样本会产生 hinge loss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67080" y="3053080"/>
            <a:ext cx="4060190" cy="9055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最大间隔目标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min  1/2 ||w||²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s.t.  yᵢ(wᵀxᵢ + b) ≥ 1</a:t>
            </a:r>
            <a:endParaRPr lang="zh-CN"/>
          </a:p>
        </p:txBody>
      </p:sp>
      <p:sp>
        <p:nvSpPr>
          <p:cNvPr id="8" name="TextBox 5"/>
          <p:cNvSpPr txBox="1"/>
          <p:nvPr/>
        </p:nvSpPr>
        <p:spPr>
          <a:xfrm>
            <a:off x="767080" y="5022850"/>
            <a:ext cx="4945380" cy="9048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软间隔 / hinge loss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min  λ/2||w||² + 1/n Σ max(0, 1 - yᵢ(wᵀxᵢ+b))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4. 优化算法：SMO 与 Pegasos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为什么主线选择 Pegasos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731520" y="1089660"/>
            <a:ext cx="5074920" cy="20154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>
                <a:solidFill>
                  <a:srgbClr val="457B9D"/>
                </a:solidFill>
                <a:latin typeface="等线" panose="02010600030101010101" charset="-122"/>
                <a:ea typeface="等线" panose="02010600030101010101" charset="-122"/>
              </a:rPr>
              <a:t>SMO：优化对偶问题</a:t>
            </a:r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变量是 αᵢ，每次选择两个 α 更新</a:t>
            </a:r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可以配合核函数处理非线性边界</a:t>
            </a:r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核矩阵通常需要 O(n²) 内存，不适合百万级文本</a:t>
            </a:r>
            <a:endParaRPr lang="zh-CN" sz="2000"/>
          </a:p>
        </p:txBody>
      </p:sp>
      <p:sp>
        <p:nvSpPr>
          <p:cNvPr id="6" name="TextBox 6"/>
          <p:cNvSpPr txBox="1"/>
          <p:nvPr/>
        </p:nvSpPr>
        <p:spPr>
          <a:xfrm>
            <a:off x="731520" y="3520440"/>
            <a:ext cx="5074920" cy="1968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Pegasos：优化 primal 问题</a:t>
            </a:r>
            <a:endParaRPr lang="zh-CN" sz="2000"/>
          </a:p>
          <a:p>
            <a:pPr algn="l"/>
            <a:r>
              <a:rPr lang="en-US" alt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ηₜ = 1 / (λt)</a:t>
            </a:r>
            <a:endParaRPr lang="zh-CN" sz="2000"/>
          </a:p>
          <a:p>
            <a:pPr algn="l"/>
            <a:r>
              <a:rPr lang="en-US" alt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若 yᵢ(wᵀxᵢ+b) &lt; 1：</a:t>
            </a:r>
            <a:endParaRPr lang="zh-CN" sz="2000"/>
          </a:p>
          <a:p>
            <a:pPr algn="l"/>
            <a:r>
              <a:rPr lang="en-US" alt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w ← (1-ηₜλ)w + ηₜyᵢxᵢ</a:t>
            </a:r>
            <a:endParaRPr lang="zh-CN" sz="2000"/>
          </a:p>
          <a:p>
            <a:pPr algn="l"/>
            <a:r>
              <a:rPr lang="en-US" alt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否则只做正则收缩</a:t>
            </a:r>
            <a:endParaRPr lang="zh-CN" sz="2000"/>
          </a:p>
        </p:txBody>
      </p:sp>
      <p:pic>
        <p:nvPicPr>
          <p:cNvPr id="21" name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54274"/>
            <a:ext cx="4892040" cy="314488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5080" y="503174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40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目标函数整体下降，说明 mini-batch Pegasos 在逐步降低 hinge loss 与正则项</a:t>
            </a:r>
            <a:endParaRPr lang="zh-CN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5. Pegasos 在代码中的应用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训练日志与稀疏矩阵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420370" y="1766570"/>
            <a:ext cx="5486400" cy="141414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核心训练逻辑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margins = yb * (Xb @ w + b)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active = margins &lt; 1.0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correction = X_active.T @ y_active /</a:t>
            </a:r>
            <a:r>
              <a:rPr lang="en-US" alt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batch_size</a:t>
            </a:r>
            <a:endParaRPr lang="zh-CN"/>
          </a:p>
        </p:txBody>
      </p:sp>
      <p:pic>
        <p:nvPicPr>
          <p:cNvPr id="21" name="rcv1_ccat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74445"/>
            <a:ext cx="5570855" cy="34131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80760" y="50749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40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RCV1 训练曲线用于展示目标函数和训练子样本准确率的变化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20370" y="3863975"/>
            <a:ext cx="4168775" cy="162433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调试输出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active_rate：违反 margin 的比例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objective：目标函数值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sample_acc：训练子样本准确率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epoch_seconds：每轮训练耗时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6. 从二分类到多分类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One-vs-Rest 扩展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636270" y="1431925"/>
            <a:ext cx="4892040" cy="35363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思想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K 个类别训练 K 个二分类器。</a:t>
            </a:r>
            <a:endParaRPr lang="zh-CN"/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第 k 个分类器：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yᵢ(k)=+1,  当 yᵢ=k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yᵢ(k)=-1,  当 yᵢ≠k</a:t>
            </a:r>
            <a:endParaRPr lang="zh-CN"/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预测时：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ŷ = argmaxₖ (wₖᵀx + bₖ)</a:t>
            </a:r>
            <a:endParaRPr lang="zh-CN"/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代码：OneVsRestPegasosSVM</a:t>
            </a:r>
            <a:endParaRPr lang="zh-CN"/>
          </a:p>
        </p:txBody>
      </p:sp>
      <p:pic>
        <p:nvPicPr>
          <p:cNvPr id="21" name="multiclas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960120"/>
            <a:ext cx="4928616" cy="448056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53455" y="55778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140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混淆矩阵对角线越集中，多分类预测越稳定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7. 真实数据实验结果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RCV1 与 Amazon 文本分类</a:t>
            </a:r>
            <a:endParaRPr lang="zh-CN" sz="1250"/>
          </a:p>
        </p:txBody>
      </p:sp>
      <p:pic>
        <p:nvPicPr>
          <p:cNvPr id="21" name="real_datase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9549"/>
            <a:ext cx="7406640" cy="485606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092440" y="1051560"/>
            <a:ext cx="33375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450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0.538</a:t>
            </a:r>
            <a:endParaRPr lang="zh-CN" sz="2450"/>
          </a:p>
          <a:p>
            <a:pPr algn="l"/>
            <a:r>
              <a:rPr lang="zh-CN" sz="115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RCV1 测试准确率</a:t>
            </a:r>
            <a:endParaRPr lang="zh-CN" sz="1150"/>
          </a:p>
        </p:txBody>
      </p:sp>
      <p:sp>
        <p:nvSpPr>
          <p:cNvPr id="6" name="TextBox 6"/>
          <p:cNvSpPr txBox="1"/>
          <p:nvPr/>
        </p:nvSpPr>
        <p:spPr>
          <a:xfrm>
            <a:off x="8092440" y="2294890"/>
            <a:ext cx="33375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450" b="1">
                <a:solidFill>
                  <a:srgbClr val="E76F51"/>
                </a:solidFill>
                <a:latin typeface="等线" panose="02010600030101010101" charset="-122"/>
                <a:ea typeface="等线" panose="02010600030101010101" charset="-122"/>
              </a:rPr>
              <a:t>0.41s</a:t>
            </a:r>
            <a:endParaRPr lang="zh-CN" sz="2450"/>
          </a:p>
          <a:p>
            <a:pPr algn="l"/>
            <a:r>
              <a:rPr lang="zh-CN" sz="115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5 epoch 训练耗时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8092440" y="3967480"/>
            <a:ext cx="35661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当前 CSV 中记录的是 RCV1 抽样实验</a:t>
            </a:r>
            <a:endParaRPr lang="en-US" altLang="zh-CN" dirty="0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endParaRPr lang="zh-CN" dirty="0"/>
          </a:p>
          <a:p>
            <a:pPr algn="l"/>
            <a:r>
              <a:rPr lang="zh-CN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Amazon 图像已生成训练曲线</a:t>
            </a:r>
            <a:endParaRPr 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8. Amazon Review Polarity 说明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百万级数据与默认抽样</a:t>
            </a:r>
            <a:endParaRPr lang="zh-CN" sz="1250"/>
          </a:p>
        </p:txBody>
      </p:sp>
      <p:pic>
        <p:nvPicPr>
          <p:cNvPr id="21" name="amazon_polarity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" y="1854699"/>
            <a:ext cx="5669280" cy="347372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03720" y="1706880"/>
            <a:ext cx="4434840" cy="3769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endParaRPr lang="zh-CN" dirty="0"/>
          </a:p>
          <a:p>
            <a:pPr algn="l"/>
            <a:r>
              <a:rPr lang="zh-CN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Amazon Polarity 本身约 3.6M 训练样本、400k 测试样本</a:t>
            </a:r>
          </a:p>
          <a:p>
            <a:pPr algn="l"/>
            <a:endParaRPr lang="zh-CN" dirty="0"/>
          </a:p>
          <a:p>
            <a:pPr algn="l"/>
            <a:endParaRPr lang="zh-CN" dirty="0"/>
          </a:p>
          <a:p>
            <a:pPr algn="l"/>
            <a:r>
              <a:rPr lang="zh-CN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文本特征保持稀疏矩阵，训练复杂度主要与非零词项数量相关</a:t>
            </a:r>
            <a:endParaRPr 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9. </a:t>
            </a:r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K-SVM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RBF kernel 用于非线性数据</a:t>
            </a:r>
            <a:endParaRPr lang="zh-CN" sz="1250"/>
          </a:p>
        </p:txBody>
      </p:sp>
      <p:pic>
        <p:nvPicPr>
          <p:cNvPr id="21" name="nonlinear_svm_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5998"/>
            <a:ext cx="7315200" cy="304312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166100" y="1548130"/>
            <a:ext cx="3652520" cy="37617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补充结论：</a:t>
            </a:r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线性 Pegasos：acc=0.850</a:t>
            </a: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RBF K-SVM：acc=0.993</a:t>
            </a: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RBF kernel 能形成弯曲边界</a:t>
            </a: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但核矩阵开销约 O(n²)，因此只作为小规模非线性任务补充</a:t>
            </a:r>
          </a:p>
          <a:p>
            <a:pPr algn="l"/>
            <a:endParaRPr lang="zh-CN"/>
          </a:p>
          <a:p>
            <a:pPr algn="l"/>
            <a:r>
              <a:rPr lang="zh-CN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大规模文本主线仍采用线性 Pegasos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02920" y="3200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3000" b="1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10. 总结</a:t>
            </a:r>
            <a:endParaRPr lang="zh-CN" sz="3000"/>
          </a:p>
        </p:txBody>
      </p:sp>
      <p:sp>
        <p:nvSpPr>
          <p:cNvPr id="4" name="TextBox 4"/>
          <p:cNvSpPr txBox="1"/>
          <p:nvPr/>
        </p:nvSpPr>
        <p:spPr>
          <a:xfrm>
            <a:off x="9281160" y="356616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r"/>
            <a:r>
              <a:rPr lang="zh-CN" sz="1250">
                <a:solidFill>
                  <a:srgbClr val="536271"/>
                </a:solidFill>
                <a:latin typeface="等线" panose="02010600030101010101" charset="-122"/>
                <a:ea typeface="等线" panose="02010600030101010101" charset="-122"/>
              </a:rPr>
              <a:t>方法选择与项目成果</a:t>
            </a:r>
            <a:endParaRPr lang="zh-CN" sz="1250"/>
          </a:p>
        </p:txBody>
      </p:sp>
      <p:sp>
        <p:nvSpPr>
          <p:cNvPr id="5" name="TextBox 5"/>
          <p:cNvSpPr txBox="1"/>
          <p:nvPr/>
        </p:nvSpPr>
        <p:spPr>
          <a:xfrm>
            <a:off x="249555" y="1704340"/>
            <a:ext cx="5955030" cy="36290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>
                <a:solidFill>
                  <a:srgbClr val="2A9D8F"/>
                </a:solidFill>
                <a:latin typeface="等线" panose="02010600030101010101" charset="-122"/>
                <a:ea typeface="等线" panose="02010600030101010101" charset="-122"/>
              </a:rPr>
              <a:t>项目产出</a:t>
            </a:r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实现 BinaryPegasosSVM：线性二分类 SVM</a:t>
            </a:r>
          </a:p>
          <a:p>
            <a:pPr algn="l"/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实现 OneVsRestPegasosSVM：二分类到多分类</a:t>
            </a:r>
          </a:p>
          <a:p>
            <a:pPr algn="l"/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支持 scipy.sparse：适配高维文本数据</a:t>
            </a:r>
          </a:p>
          <a:p>
            <a:pPr algn="l"/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添加训练调试输出和自动汇报图</a:t>
            </a:r>
          </a:p>
          <a:p>
            <a:pPr algn="l"/>
            <a:endParaRPr lang="zh-CN" sz="2000"/>
          </a:p>
          <a:p>
            <a:pPr algn="l"/>
            <a:r>
              <a:rPr lang="zh-CN" sz="200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添加 K-SVM/RBF/SMO 作为非线性补充</a:t>
            </a:r>
            <a:endParaRPr lang="zh-CN" sz="2000"/>
          </a:p>
        </p:txBody>
      </p:sp>
      <p:sp>
        <p:nvSpPr>
          <p:cNvPr id="6" name="TextBox 6"/>
          <p:cNvSpPr txBox="1"/>
          <p:nvPr/>
        </p:nvSpPr>
        <p:spPr>
          <a:xfrm>
            <a:off x="6640195" y="1704340"/>
            <a:ext cx="5315585" cy="36290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zh-CN" sz="2000" b="1" dirty="0">
                <a:solidFill>
                  <a:srgbClr val="E76F51"/>
                </a:solidFill>
                <a:latin typeface="等线" panose="02010600030101010101" charset="-122"/>
                <a:ea typeface="等线" panose="02010600030101010101" charset="-122"/>
              </a:rPr>
              <a:t>汇报主结论</a:t>
            </a:r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SVM 的核心是最大化 margin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Pegasos 把 SVM 训练变成高效随机优化</a:t>
            </a:r>
          </a:p>
          <a:p>
            <a:pPr algn="l"/>
            <a:endParaRPr lang="zh-CN" sz="2000" dirty="0"/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稀疏文本上训练快，是算法和数据结构共同作用的结果</a:t>
            </a:r>
          </a:p>
          <a:p>
            <a:pPr algn="l"/>
            <a:endParaRPr lang="zh-CN" sz="2000" dirty="0">
              <a:solidFill>
                <a:srgbClr val="0B1F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r>
              <a:rPr lang="zh-CN" sz="2000" dirty="0">
                <a:solidFill>
                  <a:srgbClr val="0B1F33"/>
                </a:solidFill>
                <a:latin typeface="等线" panose="02010600030101010101" charset="-122"/>
                <a:ea typeface="等线" panose="02010600030101010101" charset="-122"/>
              </a:rPr>
              <a:t>• K-SVM 更适合展示非线性边界，不适合直接跑百万级文本</a:t>
            </a:r>
            <a:endParaRPr lang="zh-CN" sz="2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8.85,&quot;left&quot;:223.2,&quot;top&quot;:82.8,&quot;width&quot;:626.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999</Words>
  <Application>Microsoft Office PowerPoint</Application>
  <PresentationFormat>宽屏</PresentationFormat>
  <Paragraphs>154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Pegasos SVM 项目汇报</dc:title>
  <dc:subject>大规模文本分类中的 Pegasos SVM</dc:subject>
  <dc:creator>Codex</dc:creator>
  <cp:lastModifiedBy>俊贤 张</cp:lastModifiedBy>
  <cp:revision>16</cp:revision>
  <dcterms:created xsi:type="dcterms:W3CDTF">2026-06-01T00:06:02Z</dcterms:created>
  <dcterms:modified xsi:type="dcterms:W3CDTF">2026-06-03T06:52:20Z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4325E9059DD34FB7BE86C7CA2B3082AD_12</vt:lpwstr>
  </property>
</Properties>
</file>